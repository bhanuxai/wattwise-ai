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BEFF"/>
                </a:solidFill>
                <a:latin typeface="Aptos"/>
              </a:defRPr>
            </a:pPr>
            <a:r>
              <a:t>AICTE × IBM SKILLSBUILD · APPLIED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WattWise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EE6F4"/>
                </a:solidFill>
                <a:latin typeface="Aptos"/>
              </a:defRPr>
            </a:pPr>
            <a:r>
              <a:t>Smart Energy Consumption Pattern</a:t>
            </a:r>
          </a:p>
          <a:p>
            <a:pPr>
              <a:defRPr sz="2300" b="0">
                <a:solidFill>
                  <a:srgbClr val="DEE6F4"/>
                </a:solidFill>
                <a:latin typeface="Aptos"/>
              </a:defRPr>
            </a:pPr>
            <a:r>
              <a:t>&amp; Anomaly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20624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ECADF"/>
                </a:solidFill>
                <a:latin typeface="Aptos"/>
              </a:defRPr>
            </a:pPr>
            <a:r>
              <a:t>Understand usage. Detect unusual consumption. Make better energy decisions.</a:t>
            </a:r>
          </a:p>
        </p:txBody>
      </p:sp>
      <p:sp>
        <p:nvSpPr>
          <p:cNvPr id="6" name="Oval 5"/>
          <p:cNvSpPr/>
          <p:nvPr/>
        </p:nvSpPr>
        <p:spPr>
          <a:xfrm>
            <a:off x="8503920" y="1417320"/>
            <a:ext cx="2377440" cy="2377440"/>
          </a:xfrm>
          <a:prstGeom prst="ellipse">
            <a:avLst/>
          </a:prstGeom>
          <a:solidFill>
            <a:srgbClr val="253858"/>
          </a:solidFill>
          <a:ln>
            <a:solidFill>
              <a:srgbClr val="435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920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0BEFF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080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4C2D8"/>
                </a:solidFill>
                <a:latin typeface="Aptos"/>
              </a:defRPr>
            </a:pPr>
            <a:r>
              <a:t>SDG 7 · Affordable and Clean Energy     |     SDG 12 · Responsible Consumption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7BEC"/>
                </a:solidFill>
                <a:latin typeface="Aptos"/>
              </a:defRPr>
            </a:pPr>
            <a:r>
              <a:t>01 ·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233B"/>
                </a:solidFill>
                <a:latin typeface="Aptos Display"/>
              </a:defRPr>
            </a:pPr>
            <a:r>
              <a:t>Why energy data needs better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6748B"/>
                </a:solidFill>
                <a:latin typeface="Aptos"/>
              </a:defRPr>
            </a:pPr>
            <a:r>
              <a:t>WATTWISE AI  ·  STUDENT PROJECT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201168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7BEC"/>
                </a:solidFill>
                <a:latin typeface="Aptos"/>
              </a:defRPr>
            </a:pPr>
            <a:r>
              <a:t>01  Hidden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40280"/>
            <a:ext cx="311810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Long lists of hourly readings make usage trends difficult to scan.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20440" cy="201168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1051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9B70"/>
                </a:solidFill>
                <a:latin typeface="Aptos"/>
              </a:defRPr>
            </a:pPr>
            <a:r>
              <a:t>02  Manual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40280"/>
            <a:ext cx="311810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Spreadsheets can make unusual spikes time-consuming to investigate.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520440" cy="201168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1051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84C54"/>
                </a:solidFill>
                <a:latin typeface="Aptos"/>
              </a:defRPr>
            </a:pPr>
            <a:r>
              <a:t>03  Limited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40280"/>
            <a:ext cx="311810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A spike is only a signal; users need context before drawing conclusions.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B7BEC"/>
                </a:solidFill>
                <a:latin typeface="Aptos"/>
              </a:defRPr>
            </a:pPr>
            <a:r>
              <a:t>Project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7233B"/>
                </a:solidFill>
                <a:latin typeface="Aptos"/>
              </a:defRPr>
            </a:pPr>
            <a:r>
              <a:t>Create a lightweight dashboard that visualizes consumption and highlights readings that may deserve human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7BEC"/>
                </a:solidFill>
                <a:latin typeface="Aptos"/>
              </a:defRPr>
            </a:pPr>
            <a:r>
              <a:t>02 ·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233B"/>
                </a:solidFill>
                <a:latin typeface="Aptos Display"/>
              </a:defRPr>
            </a:pPr>
            <a:r>
              <a:t>What WattWise AI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6748B"/>
                </a:solidFill>
                <a:latin typeface="Aptos"/>
              </a:defRPr>
            </a:pPr>
            <a:r>
              <a:t>WATTWISE AI  ·  STUDENT PROJECT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224028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7BEC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40280"/>
            <a:ext cx="311810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Summary metrics and a recent hourly consumption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20440" cy="224028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1051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9B70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40280"/>
            <a:ext cx="311810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Isolation Forest flags records that look unusual relative to the analyzed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520440" cy="224028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10512"/>
            <a:ext cx="3118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84C54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40280"/>
            <a:ext cx="311810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Table of flagged/typical readings and downloadable scored CSV.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B7BEC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33B"/>
                </a:solidFill>
                <a:latin typeface="Aptos"/>
              </a:defRPr>
            </a:pPr>
            <a:r>
              <a:t>The model supports investigation; it does not automatically diagnose faults or prescribe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7BEC"/>
                </a:solidFill>
                <a:latin typeface="Aptos"/>
              </a:defRPr>
            </a:pPr>
            <a:r>
              <a:t>03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233B"/>
                </a:solidFill>
                <a:latin typeface="Aptos Display"/>
              </a:defRPr>
            </a:pPr>
            <a:r>
              <a:t>From CSV to reviewable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6748B"/>
                </a:solidFill>
                <a:latin typeface="Aptos"/>
              </a:defRPr>
            </a:pPr>
            <a:r>
              <a:t>WATTWISE AI  ·  STUDENT PROJECT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1508760" y="1828800"/>
            <a:ext cx="594360" cy="594360"/>
          </a:xfrm>
          <a:prstGeom prst="ellipse">
            <a:avLst/>
          </a:prstGeom>
          <a:solidFill>
            <a:srgbClr val="4B7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9659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233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48B"/>
                </a:solidFill>
                <a:latin typeface="Aptos"/>
              </a:defRPr>
            </a:pPr>
            <a:r>
              <a:t>CSV: timestamp, hour,</a:t>
            </a:r>
          </a:p>
          <a:p>
            <a:pPr algn="ctr">
              <a:defRPr sz="1200" b="0">
                <a:solidFill>
                  <a:srgbClr val="66748B"/>
                </a:solidFill>
                <a:latin typeface="Aptos"/>
              </a:defRPr>
            </a:pPr>
            <a:r>
              <a:t>day, temperature, kWh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B7BE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1828800"/>
            <a:ext cx="594360" cy="594360"/>
          </a:xfrm>
          <a:prstGeom prst="ellipse">
            <a:avLst/>
          </a:prstGeom>
          <a:solidFill>
            <a:srgbClr val="4B7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233B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461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48B"/>
                </a:solidFill>
                <a:latin typeface="Aptos"/>
              </a:defRPr>
            </a:pPr>
            <a:r>
              <a:t>Check required fields</a:t>
            </a:r>
          </a:p>
          <a:p>
            <a:pPr algn="ctr">
              <a:defRPr sz="1200" b="0">
                <a:solidFill>
                  <a:srgbClr val="66748B"/>
                </a:solidFill>
                <a:latin typeface="Aptos"/>
              </a:defRPr>
            </a:pPr>
            <a:r>
              <a:t>and numeric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B7BE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269480" y="1828800"/>
            <a:ext cx="594360" cy="594360"/>
          </a:xfrm>
          <a:prstGeom prst="ellipse">
            <a:avLst/>
          </a:prstGeom>
          <a:solidFill>
            <a:srgbClr val="4B7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9659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233B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461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48B"/>
                </a:solidFill>
                <a:latin typeface="Aptos"/>
              </a:defRPr>
            </a:pPr>
            <a:r>
              <a:t>Fit Isolation Forest</a:t>
            </a:r>
          </a:p>
          <a:p>
            <a:pPr algn="ctr">
              <a:defRPr sz="1200" b="0">
                <a:solidFill>
                  <a:srgbClr val="66748B"/>
                </a:solidFill>
                <a:latin typeface="Aptos"/>
              </a:defRPr>
            </a:pPr>
            <a:r>
              <a:t>on current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B7BE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10149840" y="1828800"/>
            <a:ext cx="594360" cy="594360"/>
          </a:xfrm>
          <a:prstGeom prst="ellipse">
            <a:avLst/>
          </a:prstGeom>
          <a:solidFill>
            <a:srgbClr val="4B7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9659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233B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2461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748B"/>
                </a:solidFill>
                <a:latin typeface="Aptos"/>
              </a:defRPr>
            </a:pPr>
            <a:r>
              <a:t>Visualize trends, flags</a:t>
            </a:r>
          </a:p>
          <a:p>
            <a:pPr algn="ctr">
              <a:defRPr sz="1200" b="0">
                <a:solidFill>
                  <a:srgbClr val="66748B"/>
                </a:solidFill>
                <a:latin typeface="Aptos"/>
              </a:defRPr>
            </a:pPr>
            <a:r>
              <a:t>and anomaly scores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B7BEC"/>
                </a:solidFill>
                <a:latin typeface="Aptos"/>
              </a:defRPr>
            </a:pPr>
            <a:r>
              <a:t>Features used: hour · day of week · temperature · consumption (kWh)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7BEC"/>
                </a:solidFill>
                <a:latin typeface="Aptos"/>
              </a:defRPr>
            </a:pPr>
            <a:r>
              <a:t>04 ·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233B"/>
                </a:solidFill>
                <a:latin typeface="Aptos Display"/>
              </a:defRPr>
            </a:pPr>
            <a:r>
              <a:t>A transparent, modest ML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6748B"/>
                </a:solidFill>
                <a:latin typeface="Aptos"/>
              </a:defRPr>
            </a:pPr>
            <a:r>
              <a:t>WATTWISE AI  ·  STUDENT PROJECT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166360" cy="237744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7BEC"/>
                </a:solidFill>
                <a:latin typeface="Aptos"/>
              </a:defRPr>
            </a:pPr>
            <a:r>
              <a:t>Algorithm: Isolation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476402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Unsupervised outlier detection.</a:t>
            </a:r>
          </a:p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</a:p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Configured with 150 trees and contamination=0.025 for demonstration; this is an initial setting, not a calibrated operating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166360" cy="237744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719072"/>
            <a:ext cx="4764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9B7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148840"/>
            <a:ext cx="476402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Each row receives a model label and anomaly score.</a:t>
            </a:r>
          </a:p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</a:p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A flag means “unusual relative to this dataset,” not “confirmed fault.”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84C54"/>
                </a:solidFill>
                <a:latin typeface="Aptos"/>
              </a:defRPr>
            </a:pPr>
            <a:r>
              <a:t>Data integrity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006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7233B"/>
                </a:solidFill>
                <a:latin typeface="Aptos"/>
              </a:defRPr>
            </a:pPr>
            <a:r>
              <a:t>The supplied 30-day dataset is synthetic and includes injected high readings for demonstration. No real meter data or real-world performance validation is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7BEC"/>
                </a:solidFill>
                <a:latin typeface="Aptos"/>
              </a:defRPr>
            </a:pPr>
            <a:r>
              <a:t>05 ·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233B"/>
                </a:solidFill>
                <a:latin typeface="Aptos Display"/>
              </a:defRPr>
            </a:pPr>
            <a:r>
              <a:t>Working application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6748B"/>
                </a:solidFill>
                <a:latin typeface="Aptos"/>
              </a:defRPr>
            </a:pPr>
            <a:r>
              <a:t>WATTWISE AI  ·  STUDENT PROJECT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029200" cy="141732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6479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7BE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94560"/>
            <a:ext cx="46268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Reading count, flagged count, average and maximum consumption.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00200"/>
            <a:ext cx="5029200" cy="141732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7" y="176479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9B70"/>
                </a:solidFill>
                <a:latin typeface="Aptos"/>
              </a:defRPr>
            </a:pPr>
            <a:r>
              <a:t>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7" y="2194560"/>
            <a:ext cx="46268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Recent 48 readings visualized as a line chart.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74720"/>
            <a:ext cx="5029200" cy="141732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63931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7BEC"/>
                </a:solidFill>
                <a:latin typeface="Aptos"/>
              </a:defRPr>
            </a:pPr>
            <a:r>
              <a:t>CSV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069080"/>
            <a:ext cx="46268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Analyze a user-provided file with the documented schema.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474720"/>
            <a:ext cx="5029200" cy="141732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3639312"/>
            <a:ext cx="4626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9B70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4069080"/>
            <a:ext cx="46268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Download scored sample records as CSV.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6748B"/>
                </a:solidFill>
                <a:latin typeface="Aptos"/>
              </a:defRPr>
            </a:pPr>
            <a:r>
              <a:t>Stack: Python · Flask · Pandas · NumPy · scikit-learn · HTML/CSS · Chart.js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7BEC"/>
                </a:solidFill>
                <a:latin typeface="Aptos"/>
              </a:defRPr>
            </a:pPr>
            <a:r>
              <a:t>06 · 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233B"/>
                </a:solidFill>
                <a:latin typeface="Aptos Display"/>
              </a:defRPr>
            </a:pPr>
            <a:r>
              <a:t>Potential contribution to sustainable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6748B"/>
                </a:solidFill>
                <a:latin typeface="Aptos"/>
              </a:defRPr>
            </a:pPr>
            <a:r>
              <a:t>WATTWISE AI  ·  STUDENT PROJECT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37744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471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7BEC"/>
                </a:solidFill>
                <a:latin typeface="Aptos"/>
              </a:defRPr>
            </a:pPr>
            <a:r>
              <a:t>SDG 7 · Affordable and Clean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4718303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Makes basic consumption patterns easier to review and discuss.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237744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10512"/>
            <a:ext cx="471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9B70"/>
                </a:solidFill>
                <a:latin typeface="Aptos"/>
              </a:defRPr>
            </a:pPr>
            <a:r>
              <a:t>SDG 12 · Responsible Consumption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240280"/>
            <a:ext cx="4718303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Encourages investigation of unusual usage rather than ignoring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84C54"/>
                </a:solidFill>
                <a:latin typeface="Aptos"/>
              </a:defRPr>
            </a:pPr>
            <a:r>
              <a:t>Impact status: potential, not measured. The prototype has not demonstrated reduced kWh use, lower bills, or lower emissions.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7BEC"/>
                </a:solidFill>
                <a:latin typeface="Aptos"/>
              </a:defRPr>
            </a:pPr>
            <a:r>
              <a:t>07 · EVALUATION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233B"/>
                </a:solidFill>
                <a:latin typeface="Aptos Display"/>
              </a:defRPr>
            </a:pPr>
            <a:r>
              <a:t>How the prototype should be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6748B"/>
                </a:solidFill>
                <a:latin typeface="Aptos"/>
              </a:defRPr>
            </a:pPr>
            <a:r>
              <a:t>WATTWISE AI  ·  STUDENT PROJECT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647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7BEC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307238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Use authorized meter data; check missing values, timestamps and sensor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647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9B70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94560"/>
            <a:ext cx="307238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Compare with simple statistical baselines and expert-reviewed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4F7FC"/>
          </a:solidFill>
          <a:ln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7647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84C54"/>
                </a:solidFill>
                <a:latin typeface="Aptos"/>
              </a:defRPr>
            </a:pPr>
            <a:r>
              <a:t>Success measures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194560"/>
            <a:ext cx="307238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7233B"/>
                </a:solidFill>
                <a:latin typeface="Aptos"/>
              </a:defRPr>
            </a:pPr>
            <a:r>
              <a:t>Precision, false-positive rate, review time and stability across seasons.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B7BEC"/>
                </a:solidFill>
                <a:latin typeface="Aptos"/>
              </a:defRPr>
            </a:pPr>
            <a:r>
              <a:t>Next step: run a small, consented pilot with a facilities or sustainability team.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B7BEC"/>
                </a:solidFill>
                <a:latin typeface="Aptos"/>
              </a:defRPr>
            </a:pPr>
            <a:r>
              <a:t>08 · LIMITATIONS AND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233B"/>
                </a:solidFill>
                <a:latin typeface="Aptos Display"/>
              </a:defRPr>
            </a:pPr>
            <a:r>
              <a:t>Responsible use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6748B"/>
                </a:solidFill>
                <a:latin typeface="Aptos"/>
              </a:defRPr>
            </a:pPr>
            <a:r>
              <a:t>WATTWISE AI  ·  STUDENT PROJECT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7233B"/>
                </a:solidFill>
                <a:latin typeface="Aptos"/>
              </a:defRPr>
            </a:pPr>
            <a:r>
              <a:t>• Flags are not proof of waste, failure, billing error or danger.</a:t>
            </a:r>
          </a:p>
          <a:p>
            <a:pPr>
              <a:defRPr sz="1800" b="0">
                <a:solidFill>
                  <a:srgbClr val="17233B"/>
                </a:solidFill>
                <a:latin typeface="Aptos"/>
              </a:defRPr>
            </a:pPr>
            <a:r>
              <a:t>• Dataset composition and seasonality affect results.</a:t>
            </a:r>
          </a:p>
          <a:p>
            <a:pPr>
              <a:defRPr sz="1800" b="0">
                <a:solidFill>
                  <a:srgbClr val="17233B"/>
                </a:solidFill>
                <a:latin typeface="Aptos"/>
              </a:defRPr>
            </a:pPr>
            <a:r>
              <a:t>• No smart-meter or utility API integration is included.</a:t>
            </a:r>
          </a:p>
          <a:p>
            <a:pPr>
              <a:defRPr sz="1800" b="0">
                <a:solidFill>
                  <a:srgbClr val="17233B"/>
                </a:solidFill>
                <a:latin typeface="Aptos"/>
              </a:defRPr>
            </a:pPr>
            <a:r>
              <a:t>• Do not upload data without permission.</a:t>
            </a:r>
          </a:p>
          <a:p>
            <a:pPr>
              <a:defRPr sz="1800" b="0">
                <a:solidFill>
                  <a:srgbClr val="17233B"/>
                </a:solidFill>
                <a:latin typeface="Aptos"/>
              </a:defRPr>
            </a:pPr>
            <a:r>
              <a:t>• Public deployment needs authentication, access control and privacy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9B70"/>
                </a:solidFill>
                <a:latin typeface="Aptos"/>
              </a:defRPr>
            </a:pPr>
            <a:r>
              <a:t>Human review remains part of the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BE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Small signals can start</a:t>
            </a:r>
          </a:p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better energy conversations.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2DCED"/>
                </a:solidFill>
                <a:latin typeface="Aptos"/>
              </a:defRPr>
            </a:pPr>
            <a:r>
              <a:t>WattWise AI demonstrates a practical use of data processing, unsupervised ML and web development — with clear limits and a path to real-world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0BEFF"/>
                </a:solidFill>
                <a:latin typeface="Aptos"/>
              </a:defRPr>
            </a:pPr>
            <a:r>
              <a:t>WattWise AI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